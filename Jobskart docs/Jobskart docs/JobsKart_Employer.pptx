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63" r:id="rId4"/>
    <p:sldId id="265" r:id="rId5"/>
    <p:sldId id="266" r:id="rId6"/>
    <p:sldId id="267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2" r:id="rId18"/>
    <p:sldId id="283" r:id="rId19"/>
    <p:sldId id="280" r:id="rId20"/>
    <p:sldId id="281" r:id="rId21"/>
    <p:sldId id="28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D2D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54923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85A"/>
                </a:solidFill>
              </a:rPr>
              <a:t>What Competitors Are Doing Better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705023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Reducing recruiter thinking effort</a:t>
            </a:r>
            <a:r>
              <a:rPr lang="en-IN"/>
              <a:t> 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Using smart suggestions &amp; recommendations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Auto-filled intelligent defaults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Dynamic form simplification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Creating AI-powered experience perception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4285A"/>
                </a:solidFill>
              </a:rPr>
              <a:t>AI / Smart UX Used by Apna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658152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Role-to-category intelligent mapping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Dynamic skill recommendation engine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Suggested salary &amp; experience defaults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Template-assisted job description generation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Backend candidate ranking &amp; matching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85A"/>
                </a:solidFill>
              </a:rPr>
              <a:t>Major UX Gaps in JobsKart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5919697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Too many visible decisions &amp; radio buttons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Manual form-filling experience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Weak intelligent assistance perception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Limited dynamic guidance &amp; recommendations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Form psychologically feels longer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85A"/>
                </a:solidFill>
              </a:rPr>
              <a:t>Smart Skill Recommendation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783489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Role-based skill recommendations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Searchable skill suggestion engine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Top industry-used skill highlights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Grouped skill categories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Improved candidate matching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85A"/>
                </a:solidFill>
              </a:rPr>
              <a:t>Smart Salary Recommendation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687181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City-wise market salary suggestions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Role-based salary recommendations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Reduce recruiter confusion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Improve candidate conversion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Increase posting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85A"/>
                </a:solidFill>
              </a:rPr>
              <a:t>Dynamic &amp; Conditional 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745786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Show only relevant fields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Reduce visual clutter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Hide unnecessary inputs dynamically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Improve mobile experience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Reduce cognitive 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85A"/>
                </a:solidFill>
              </a:rPr>
              <a:t>Job Quality Score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619341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Show completion percentage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Display optimization score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Recommend missing improvements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Gamify recruiter posting flow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Reduce posting abandonment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85A"/>
                </a:solidFill>
              </a:rPr>
              <a:t>Visual Hierarchy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278607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Stronger section separation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Cleaner spacing &amp; grouping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Highlight important fields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Reduce repetitive visual patterns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Improve </a:t>
            </a:r>
            <a:r>
              <a:rPr dirty="0" err="1"/>
              <a:t>scanability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25AB3-125F-4117-AC71-FB969BD3342D}"/>
              </a:ext>
            </a:extLst>
          </p:cNvPr>
          <p:cNvSpPr txBox="1"/>
          <p:nvPr/>
        </p:nvSpPr>
        <p:spPr>
          <a:xfrm>
            <a:off x="548640" y="365760"/>
            <a:ext cx="39630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1.  Job Types on JobsKart </a:t>
            </a:r>
            <a:endParaRPr sz="2800" b="1" dirty="0">
              <a:solidFill>
                <a:srgbClr val="14285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4B179-E078-4C26-808A-0F48562EF162}"/>
              </a:ext>
            </a:extLst>
          </p:cNvPr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38E44C-6393-4BB7-9DF1-AAC05C5B3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35109"/>
              </p:ext>
            </p:extLst>
          </p:nvPr>
        </p:nvGraphicFramePr>
        <p:xfrm>
          <a:off x="221942" y="1587890"/>
          <a:ext cx="8664607" cy="4271942"/>
        </p:xfrm>
        <a:graphic>
          <a:graphicData uri="http://schemas.openxmlformats.org/drawingml/2006/table">
            <a:tbl>
              <a:tblPr/>
              <a:tblGrid>
                <a:gridCol w="1237801">
                  <a:extLst>
                    <a:ext uri="{9D8B030D-6E8A-4147-A177-3AD203B41FA5}">
                      <a16:colId xmlns:a16="http://schemas.microsoft.com/office/drawing/2014/main" val="499186346"/>
                    </a:ext>
                  </a:extLst>
                </a:gridCol>
                <a:gridCol w="1300506">
                  <a:extLst>
                    <a:ext uri="{9D8B030D-6E8A-4147-A177-3AD203B41FA5}">
                      <a16:colId xmlns:a16="http://schemas.microsoft.com/office/drawing/2014/main" val="3047630535"/>
                    </a:ext>
                  </a:extLst>
                </a:gridCol>
                <a:gridCol w="1175096">
                  <a:extLst>
                    <a:ext uri="{9D8B030D-6E8A-4147-A177-3AD203B41FA5}">
                      <a16:colId xmlns:a16="http://schemas.microsoft.com/office/drawing/2014/main" val="3884869566"/>
                    </a:ext>
                  </a:extLst>
                </a:gridCol>
                <a:gridCol w="1237801">
                  <a:extLst>
                    <a:ext uri="{9D8B030D-6E8A-4147-A177-3AD203B41FA5}">
                      <a16:colId xmlns:a16="http://schemas.microsoft.com/office/drawing/2014/main" val="3298706712"/>
                    </a:ext>
                  </a:extLst>
                </a:gridCol>
                <a:gridCol w="1237801">
                  <a:extLst>
                    <a:ext uri="{9D8B030D-6E8A-4147-A177-3AD203B41FA5}">
                      <a16:colId xmlns:a16="http://schemas.microsoft.com/office/drawing/2014/main" val="3365972899"/>
                    </a:ext>
                  </a:extLst>
                </a:gridCol>
                <a:gridCol w="1237801">
                  <a:extLst>
                    <a:ext uri="{9D8B030D-6E8A-4147-A177-3AD203B41FA5}">
                      <a16:colId xmlns:a16="http://schemas.microsoft.com/office/drawing/2014/main" val="2640308273"/>
                    </a:ext>
                  </a:extLst>
                </a:gridCol>
                <a:gridCol w="1237801">
                  <a:extLst>
                    <a:ext uri="{9D8B030D-6E8A-4147-A177-3AD203B41FA5}">
                      <a16:colId xmlns:a16="http://schemas.microsoft.com/office/drawing/2014/main" val="253280278"/>
                    </a:ext>
                  </a:extLst>
                </a:gridCol>
              </a:tblGrid>
              <a:tr h="391921"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Job Type</a:t>
                      </a:r>
                      <a:endParaRPr lang="en-IN" sz="1200" dirty="0"/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Explanation</a:t>
                      </a:r>
                      <a:endParaRPr lang="en-IN" sz="1200" dirty="0"/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Live Duration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Reposting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Visibility Priority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Plan Dependency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Key Purpose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541952"/>
                  </a:ext>
                </a:extLst>
              </a:tr>
              <a:tr h="1097380"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Classic Job</a:t>
                      </a:r>
                      <a:endParaRPr lang="en-IN" sz="1200" dirty="0"/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Standard regular job posting used for normal hiring requirements.</a:t>
                      </a:r>
                      <a:endParaRPr lang="en-US" sz="1200" dirty="0"/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30 Days, Can be Closed &amp; Reopened</a:t>
                      </a:r>
                      <a:endParaRPr lang="en-IN" sz="1200" dirty="0"/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 reusable after expiry unless reposted depending on plan rules.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Normal visibility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Available in regular/basic plans.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General hiring.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047444"/>
                  </a:ext>
                </a:extLst>
              </a:tr>
              <a:tr h="1450109">
                <a:tc>
                  <a:txBody>
                    <a:bodyPr/>
                    <a:lstStyle/>
                    <a:p>
                      <a:pPr algn="l"/>
                      <a:r>
                        <a:rPr lang="en-IN" sz="1200" dirty="0"/>
                        <a:t>Classic +  Job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Premium reusable job posting available under unlimited posting plans with active live job limitation.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/>
                        <a:t>30 Days, Can be Closed </a:t>
                      </a:r>
                      <a:r>
                        <a:rPr lang="en-IN" sz="1200"/>
                        <a:t>&amp; Reopened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Can be reposted/reused multiple times as per plan rules.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Normal visibility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Available in unlimited plans.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Frequent &amp; continuous hiring.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4288"/>
                  </a:ext>
                </a:extLst>
              </a:tr>
              <a:tr h="1332532">
                <a:tc>
                  <a:txBody>
                    <a:bodyPr/>
                    <a:lstStyle/>
                    <a:p>
                      <a:pPr algn="l"/>
                      <a:r>
                        <a:rPr lang="en-IN" sz="1200" dirty="0"/>
                        <a:t>Trending Job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High-priority visibility job designed for urgent or premium hiring requirements.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30 Days, Can be Closed </a:t>
                      </a:r>
                      <a:r>
                        <a:rPr lang="en-IN" sz="1200" dirty="0"/>
                        <a:t>&amp; Reopened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Not reusable after expiry unless reposted depending on plan rules.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Gets higher ranking, stronger recommendations &amp; premium placement.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Available in regular/basic plans.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/>
                        <a:t>Maximum visibility &amp; faster applications.</a:t>
                      </a:r>
                    </a:p>
                  </a:txBody>
                  <a:tcPr marL="41523" marR="41523" marT="20761" marB="207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04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2230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25AB3-125F-4117-AC71-FB969BD3342D}"/>
              </a:ext>
            </a:extLst>
          </p:cNvPr>
          <p:cNvSpPr txBox="1"/>
          <p:nvPr/>
        </p:nvSpPr>
        <p:spPr>
          <a:xfrm>
            <a:off x="548640" y="365760"/>
            <a:ext cx="32008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2. Boost Job Feature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4B179-E078-4C26-808A-0F48562EF162}"/>
              </a:ext>
            </a:extLst>
          </p:cNvPr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6106FA-2D56-42C3-AF24-6A52F79C91A9}"/>
              </a:ext>
            </a:extLst>
          </p:cNvPr>
          <p:cNvSpPr/>
          <p:nvPr/>
        </p:nvSpPr>
        <p:spPr>
          <a:xfrm>
            <a:off x="548640" y="1261031"/>
            <a:ext cx="747499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464646"/>
                </a:solidFill>
              </a:rPr>
              <a:t>Boost Logic</a:t>
            </a:r>
          </a:p>
          <a:p>
            <a:r>
              <a:rPr lang="en-US" sz="2200" dirty="0">
                <a:solidFill>
                  <a:srgbClr val="464646"/>
                </a:solidFill>
              </a:rPr>
              <a:t>Boosting is a temporary visibility enhancement feature used to increase job reach, impressions, and applications.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1E9FF2-8898-4115-A90A-A8465C999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860241"/>
              </p:ext>
            </p:extLst>
          </p:nvPr>
        </p:nvGraphicFramePr>
        <p:xfrm>
          <a:off x="548640" y="2578498"/>
          <a:ext cx="7870054" cy="3456589"/>
        </p:xfrm>
        <a:graphic>
          <a:graphicData uri="http://schemas.openxmlformats.org/drawingml/2006/table">
            <a:tbl>
              <a:tblPr/>
              <a:tblGrid>
                <a:gridCol w="3935027">
                  <a:extLst>
                    <a:ext uri="{9D8B030D-6E8A-4147-A177-3AD203B41FA5}">
                      <a16:colId xmlns:a16="http://schemas.microsoft.com/office/drawing/2014/main" val="3762723111"/>
                    </a:ext>
                  </a:extLst>
                </a:gridCol>
                <a:gridCol w="3935027">
                  <a:extLst>
                    <a:ext uri="{9D8B030D-6E8A-4147-A177-3AD203B41FA5}">
                      <a16:colId xmlns:a16="http://schemas.microsoft.com/office/drawing/2014/main" val="2779787814"/>
                    </a:ext>
                  </a:extLst>
                </a:gridCol>
              </a:tblGrid>
              <a:tr h="260972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Rule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279512"/>
                  </a:ext>
                </a:extLst>
              </a:tr>
              <a:tr h="652429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Same Day Restriction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A job cannot be boosted on the same day it becomes live because new jobs already receive freshness priority.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944491"/>
                  </a:ext>
                </a:extLst>
              </a:tr>
              <a:tr h="456700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Credit 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Boosting consumes boost credits available in employer account/plan.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860570"/>
                  </a:ext>
                </a:extLst>
              </a:tr>
              <a:tr h="652429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Multiple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Jobs can be boosted multiple times across different days depending on available credits.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46914"/>
                  </a:ext>
                </a:extLst>
              </a:tr>
              <a:tr h="456700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Temporary 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Boosted jobs receive temporary top-level visibility over normal listing logic.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9371171"/>
                  </a:ext>
                </a:extLst>
              </a:tr>
              <a:tr h="652429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Dynamic 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Boosted jobs may still shift position if stronger recommendation matches or newer priority jobs appear.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80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781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2A63CA-F149-4F6E-84C2-178F6C32C0F8}"/>
              </a:ext>
            </a:extLst>
          </p:cNvPr>
          <p:cNvSpPr txBox="1"/>
          <p:nvPr/>
        </p:nvSpPr>
        <p:spPr>
          <a:xfrm>
            <a:off x="464197" y="445658"/>
            <a:ext cx="30909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3. </a:t>
            </a:r>
            <a:r>
              <a:rPr sz="2800" b="1" dirty="0">
                <a:solidFill>
                  <a:srgbClr val="14285A"/>
                </a:solidFill>
              </a:rPr>
              <a:t>DB Access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1EFB46-5F79-43D2-9113-4E8EBB201884}"/>
              </a:ext>
            </a:extLst>
          </p:cNvPr>
          <p:cNvSpPr/>
          <p:nvPr/>
        </p:nvSpPr>
        <p:spPr>
          <a:xfrm>
            <a:off x="464197" y="1085738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E444D8-0A65-4D11-AB06-D0B69F3CF548}"/>
              </a:ext>
            </a:extLst>
          </p:cNvPr>
          <p:cNvSpPr txBox="1"/>
          <p:nvPr/>
        </p:nvSpPr>
        <p:spPr>
          <a:xfrm>
            <a:off x="579606" y="1541161"/>
            <a:ext cx="8031734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Unlock inventory attached with each job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Current proposed unlocks: 25 candidates per job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Candidate DB search allowed only when job is live as there are no separate DB unlock feature.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Recruiter must select active live job before searching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No DB search allowed for expired or paused jobs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Sensitive data fetched dynamically after unlock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Locked data should never exist in frontend code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Protection against scraping &amp; data leakage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IN" dirty="0"/>
              <a:t>Generate candidate relevancy score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N</a:t>
            </a:r>
            <a:r>
              <a:rPr lang="en-IN" dirty="0" err="1"/>
              <a:t>ote</a:t>
            </a:r>
            <a:r>
              <a:rPr lang="en-IN" dirty="0"/>
              <a:t>- We will remove job responses from employers end, after 60 days of job expiry and give a note also after expiry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62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25AB3-125F-4117-AC71-FB969BD3342D}"/>
              </a:ext>
            </a:extLst>
          </p:cNvPr>
          <p:cNvSpPr txBox="1"/>
          <p:nvPr/>
        </p:nvSpPr>
        <p:spPr>
          <a:xfrm>
            <a:off x="548640" y="365760"/>
            <a:ext cx="37534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4. Employer Verification</a:t>
            </a:r>
            <a:endParaRPr sz="2800" b="1" dirty="0">
              <a:solidFill>
                <a:srgbClr val="14285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4B179-E078-4C26-808A-0F48562EF162}"/>
              </a:ext>
            </a:extLst>
          </p:cNvPr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86FF42-DC98-4D3B-874C-96B7AC39F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939007"/>
              </p:ext>
            </p:extLst>
          </p:nvPr>
        </p:nvGraphicFramePr>
        <p:xfrm>
          <a:off x="577049" y="1461327"/>
          <a:ext cx="8201191" cy="3849739"/>
        </p:xfrm>
        <a:graphic>
          <a:graphicData uri="http://schemas.openxmlformats.org/drawingml/2006/table">
            <a:tbl>
              <a:tblPr/>
              <a:tblGrid>
                <a:gridCol w="2213203">
                  <a:extLst>
                    <a:ext uri="{9D8B030D-6E8A-4147-A177-3AD203B41FA5}">
                      <a16:colId xmlns:a16="http://schemas.microsoft.com/office/drawing/2014/main" val="687307434"/>
                    </a:ext>
                  </a:extLst>
                </a:gridCol>
                <a:gridCol w="3244788">
                  <a:extLst>
                    <a:ext uri="{9D8B030D-6E8A-4147-A177-3AD203B41FA5}">
                      <a16:colId xmlns:a16="http://schemas.microsoft.com/office/drawing/2014/main" val="208681604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35566526"/>
                    </a:ext>
                  </a:extLst>
                </a:gridCol>
              </a:tblGrid>
              <a:tr h="37428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Verification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API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408994"/>
                  </a:ext>
                </a:extLst>
              </a:tr>
              <a:tr h="1256512"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GST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Verify business legality, GST status, company details &amp; registered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138601"/>
                  </a:ext>
                </a:extLst>
              </a:tr>
              <a:tr h="962435">
                <a:tc>
                  <a:txBody>
                    <a:bodyPr/>
                    <a:lstStyle/>
                    <a:p>
                      <a:r>
                        <a:rPr lang="en-IN" sz="1800" kern="120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CIN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Verify registered company/organization through MCA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258124"/>
                  </a:ext>
                </a:extLst>
              </a:tr>
              <a:tr h="1256512">
                <a:tc>
                  <a:txBody>
                    <a:bodyPr/>
                    <a:lstStyle/>
                    <a:p>
                      <a:r>
                        <a:rPr lang="en-IN" sz="1800" kern="120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Aadhaar Verification (Recruiter)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Verify recruiter personal identity using OTP/</a:t>
                      </a:r>
                      <a:r>
                        <a:rPr lang="en-US" sz="1800" kern="1200" dirty="0" err="1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DigiLocker</a:t>
                      </a:r>
                      <a:r>
                        <a:rPr lang="en-US" sz="18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-based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kern="1200" dirty="0">
                          <a:solidFill>
                            <a:srgbClr val="464646"/>
                          </a:solidFill>
                          <a:latin typeface="+mn-lt"/>
                          <a:ea typeface="+mn-ea"/>
                          <a:cs typeface="+mn-cs"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924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00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25AB3-125F-4117-AC71-FB969BD3342D}"/>
              </a:ext>
            </a:extLst>
          </p:cNvPr>
          <p:cNvSpPr txBox="1"/>
          <p:nvPr/>
        </p:nvSpPr>
        <p:spPr>
          <a:xfrm>
            <a:off x="548640" y="365760"/>
            <a:ext cx="58759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5. Roles of Users in Employer Account </a:t>
            </a:r>
            <a:endParaRPr sz="2800" b="1" dirty="0">
              <a:solidFill>
                <a:srgbClr val="14285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4B179-E078-4C26-808A-0F48562EF162}"/>
              </a:ext>
            </a:extLst>
          </p:cNvPr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233BF9-E3D4-4E12-900F-533B986F8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365553"/>
              </p:ext>
            </p:extLst>
          </p:nvPr>
        </p:nvGraphicFramePr>
        <p:xfrm>
          <a:off x="275208" y="1451045"/>
          <a:ext cx="8558075" cy="5320832"/>
        </p:xfrm>
        <a:graphic>
          <a:graphicData uri="http://schemas.openxmlformats.org/drawingml/2006/table">
            <a:tbl>
              <a:tblPr/>
              <a:tblGrid>
                <a:gridCol w="1711615">
                  <a:extLst>
                    <a:ext uri="{9D8B030D-6E8A-4147-A177-3AD203B41FA5}">
                      <a16:colId xmlns:a16="http://schemas.microsoft.com/office/drawing/2014/main" val="3113640993"/>
                    </a:ext>
                  </a:extLst>
                </a:gridCol>
                <a:gridCol w="1626389">
                  <a:extLst>
                    <a:ext uri="{9D8B030D-6E8A-4147-A177-3AD203B41FA5}">
                      <a16:colId xmlns:a16="http://schemas.microsoft.com/office/drawing/2014/main" val="3995731382"/>
                    </a:ext>
                  </a:extLst>
                </a:gridCol>
                <a:gridCol w="1802167">
                  <a:extLst>
                    <a:ext uri="{9D8B030D-6E8A-4147-A177-3AD203B41FA5}">
                      <a16:colId xmlns:a16="http://schemas.microsoft.com/office/drawing/2014/main" val="1284157648"/>
                    </a:ext>
                  </a:extLst>
                </a:gridCol>
                <a:gridCol w="1706289">
                  <a:extLst>
                    <a:ext uri="{9D8B030D-6E8A-4147-A177-3AD203B41FA5}">
                      <a16:colId xmlns:a16="http://schemas.microsoft.com/office/drawing/2014/main" val="1176104379"/>
                    </a:ext>
                  </a:extLst>
                </a:gridCol>
                <a:gridCol w="1711615">
                  <a:extLst>
                    <a:ext uri="{9D8B030D-6E8A-4147-A177-3AD203B41FA5}">
                      <a16:colId xmlns:a16="http://schemas.microsoft.com/office/drawing/2014/main" val="1247848843"/>
                    </a:ext>
                  </a:extLst>
                </a:gridCol>
              </a:tblGrid>
              <a:tr h="363577">
                <a:tc>
                  <a:txBody>
                    <a:bodyPr/>
                    <a:lstStyle/>
                    <a:p>
                      <a:r>
                        <a:rPr lang="en-IN" sz="1300" b="1" dirty="0"/>
                        <a:t>Role Level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Purpose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Main Responsibilities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Allowed Access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/>
                        <a:t>Restricted Access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829147"/>
                  </a:ext>
                </a:extLst>
              </a:tr>
              <a:tr h="1690342">
                <a:tc>
                  <a:txBody>
                    <a:bodyPr/>
                    <a:lstStyle/>
                    <a:p>
                      <a:r>
                        <a:rPr lang="en-IN" sz="1300" dirty="0"/>
                        <a:t>Super Admin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Primary company owner/control account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Manage complete company workspace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Full access to company settings, plans, billing, recruiters, jobs, DB access, boosts, trending jobs, analytics &amp; verification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No restrictions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210342"/>
                  </a:ext>
                </a:extLst>
              </a:tr>
              <a:tr h="1718115">
                <a:tc>
                  <a:txBody>
                    <a:bodyPr/>
                    <a:lstStyle/>
                    <a:p>
                      <a:r>
                        <a:rPr lang="en-IN" sz="1300" dirty="0"/>
                        <a:t>HR Admin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HR management &amp; team operations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Manage hiring workflow &amp; recruiter team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Create/edit/close jobs, manage recruiters, access candidate DB, unlock candidates, manage boosts, shortlist candidates, view analytics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Cannot change ownership, delete company, or control billing/plans completely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355675"/>
                  </a:ext>
                </a:extLst>
              </a:tr>
              <a:tr h="1548798">
                <a:tc>
                  <a:txBody>
                    <a:bodyPr/>
                    <a:lstStyle/>
                    <a:p>
                      <a:r>
                        <a:rPr lang="en-IN" sz="1300" dirty="0"/>
                        <a:t>Recruiter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Daily hiring &amp; candidate sourcing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Posting jobs &amp; candidate handling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Post jobs, search DB, unlock candidates, manage applications, shortlist candidates, contact unlocked profiles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Cannot manage recruiters, plans, billing, verification or company-level settings</a:t>
                      </a:r>
                    </a:p>
                  </a:txBody>
                  <a:tcPr marL="40410" marR="40410" marT="20205" marB="2020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218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935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25AB3-125F-4117-AC71-FB969BD3342D}"/>
              </a:ext>
            </a:extLst>
          </p:cNvPr>
          <p:cNvSpPr txBox="1"/>
          <p:nvPr/>
        </p:nvSpPr>
        <p:spPr>
          <a:xfrm>
            <a:off x="548640" y="365760"/>
            <a:ext cx="3025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5.1 Activity Tracker</a:t>
            </a:r>
            <a:endParaRPr sz="2800" b="1" dirty="0">
              <a:solidFill>
                <a:srgbClr val="14285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4B179-E078-4C26-808A-0F48562EF162}"/>
              </a:ext>
            </a:extLst>
          </p:cNvPr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E463A4-A8C7-4B50-8267-111028EC0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275807"/>
              </p:ext>
            </p:extLst>
          </p:nvPr>
        </p:nvGraphicFramePr>
        <p:xfrm>
          <a:off x="548640" y="1553211"/>
          <a:ext cx="5890334" cy="2560320"/>
        </p:xfrm>
        <a:graphic>
          <a:graphicData uri="http://schemas.openxmlformats.org/drawingml/2006/table">
            <a:tbl>
              <a:tblPr/>
              <a:tblGrid>
                <a:gridCol w="2945167">
                  <a:extLst>
                    <a:ext uri="{9D8B030D-6E8A-4147-A177-3AD203B41FA5}">
                      <a16:colId xmlns:a16="http://schemas.microsoft.com/office/drawing/2014/main" val="1835291008"/>
                    </a:ext>
                  </a:extLst>
                </a:gridCol>
                <a:gridCol w="2945167">
                  <a:extLst>
                    <a:ext uri="{9D8B030D-6E8A-4147-A177-3AD203B41FA5}">
                      <a16:colId xmlns:a16="http://schemas.microsoft.com/office/drawing/2014/main" val="3173353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Track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484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Job Created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305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Candidate Unlock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0032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Boost Applied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656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Candidate Contacted 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856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DB Search 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76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993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89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25AB3-125F-4117-AC71-FB969BD3342D}"/>
              </a:ext>
            </a:extLst>
          </p:cNvPr>
          <p:cNvSpPr txBox="1"/>
          <p:nvPr/>
        </p:nvSpPr>
        <p:spPr>
          <a:xfrm>
            <a:off x="548640" y="365760"/>
            <a:ext cx="27094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5.2 Actions Table</a:t>
            </a:r>
            <a:endParaRPr sz="2800" b="1" dirty="0">
              <a:solidFill>
                <a:srgbClr val="14285A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4B179-E078-4C26-808A-0F48562EF162}"/>
              </a:ext>
            </a:extLst>
          </p:cNvPr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8B33D6-ADAD-4041-A617-CBF9A8FC5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3272107"/>
              </p:ext>
            </p:extLst>
          </p:nvPr>
        </p:nvGraphicFramePr>
        <p:xfrm>
          <a:off x="386179" y="1467098"/>
          <a:ext cx="8229600" cy="42062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4045505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3089463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00275268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171274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Super 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HR 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Recruiter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256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Create Recruiters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64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Manage Billing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Limited/Optional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202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Post 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088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Search Candidate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248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Unlock Candidates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1721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Apply Boosts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375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Access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9134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Company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465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Create HR 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876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799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1B834B-4560-49C8-A667-7580A9691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542725"/>
              </p:ext>
            </p:extLst>
          </p:nvPr>
        </p:nvGraphicFramePr>
        <p:xfrm>
          <a:off x="317821" y="1782825"/>
          <a:ext cx="8780016" cy="4834348"/>
        </p:xfrm>
        <a:graphic>
          <a:graphicData uri="http://schemas.openxmlformats.org/drawingml/2006/table">
            <a:tbl>
              <a:tblPr/>
              <a:tblGrid>
                <a:gridCol w="2926672">
                  <a:extLst>
                    <a:ext uri="{9D8B030D-6E8A-4147-A177-3AD203B41FA5}">
                      <a16:colId xmlns:a16="http://schemas.microsoft.com/office/drawing/2014/main" val="1281934646"/>
                    </a:ext>
                  </a:extLst>
                </a:gridCol>
                <a:gridCol w="2926672">
                  <a:extLst>
                    <a:ext uri="{9D8B030D-6E8A-4147-A177-3AD203B41FA5}">
                      <a16:colId xmlns:a16="http://schemas.microsoft.com/office/drawing/2014/main" val="2889730554"/>
                    </a:ext>
                  </a:extLst>
                </a:gridCol>
                <a:gridCol w="2926672">
                  <a:extLst>
                    <a:ext uri="{9D8B030D-6E8A-4147-A177-3AD203B41FA5}">
                      <a16:colId xmlns:a16="http://schemas.microsoft.com/office/drawing/2014/main" val="642140433"/>
                    </a:ext>
                  </a:extLst>
                </a:gridCol>
              </a:tblGrid>
              <a:tr h="295158">
                <a:tc>
                  <a:txBody>
                    <a:bodyPr/>
                    <a:lstStyle/>
                    <a:p>
                      <a:r>
                        <a:rPr lang="en-IN" sz="1400" b="1" dirty="0"/>
                        <a:t>Scenario / Edge Cases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Recommended System Behaviour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Ownership / Access Logic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294853"/>
                  </a:ext>
                </a:extLst>
              </a:tr>
              <a:tr h="488219">
                <a:tc>
                  <a:txBody>
                    <a:bodyPr/>
                    <a:lstStyle/>
                    <a:p>
                      <a:r>
                        <a:rPr lang="en-IN" sz="1400" dirty="0"/>
                        <a:t>Recruiter creates personal account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Recruiter account exists independently from company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Recruiter owns personal identity &amp; login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758172"/>
                  </a:ext>
                </a:extLst>
              </a:tr>
              <a:tr h="488219">
                <a:tc>
                  <a:txBody>
                    <a:bodyPr/>
                    <a:lstStyle/>
                    <a:p>
                      <a:r>
                        <a:rPr lang="en-IN" sz="1400" dirty="0"/>
                        <a:t>Recruiter added to organization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Recruiter receives organization membership with assigned role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Organization controls permissions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394652"/>
                  </a:ext>
                </a:extLst>
              </a:tr>
              <a:tr h="1176316">
                <a:tc>
                  <a:txBody>
                    <a:bodyPr/>
                    <a:lstStyle/>
                    <a:p>
                      <a:r>
                        <a:rPr lang="en-IN" sz="1400" dirty="0"/>
                        <a:t>Recruiter removed from organization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Only organization access removed, recruiter personal account remains active, Avoid hard delete, use access revocation &amp; soft delete.</a:t>
                      </a:r>
                    </a:p>
                    <a:p>
                      <a:endParaRPr lang="en-US" sz="1400" dirty="0"/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Personal account retained with Recruiter, </a:t>
                      </a:r>
                      <a:r>
                        <a:rPr lang="en-US" sz="1400" dirty="0"/>
                        <a:t>Company data remains with organization</a:t>
                      </a:r>
                    </a:p>
                    <a:p>
                      <a:endParaRPr lang="en-IN" sz="1400" dirty="0"/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076521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r>
                        <a:rPr lang="en-IN" sz="1400" dirty="0"/>
                        <a:t>Recruiter activity tracking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 sensitive actions logged for auditing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System-level logging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599050"/>
                  </a:ext>
                </a:extLst>
              </a:tr>
              <a:tr h="488219">
                <a:tc>
                  <a:txBody>
                    <a:bodyPr/>
                    <a:lstStyle/>
                    <a:p>
                      <a:r>
                        <a:rPr lang="en-IN" sz="1400" dirty="0"/>
                        <a:t>Recruiter added via invitation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Recruiter accepts invite &amp; joins organization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Membership-based onboarding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395096"/>
                  </a:ext>
                </a:extLst>
              </a:tr>
              <a:tr h="71758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Candidate access after recruiter removal</a:t>
                      </a:r>
                    </a:p>
                    <a:p>
                      <a:endParaRPr lang="en-IN" sz="1400" dirty="0"/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Company retains unlocked candidate visibility</a:t>
                      </a:r>
                    </a:p>
                    <a:p>
                      <a:endParaRPr lang="en-US" sz="1400" dirty="0"/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Company-owned access</a:t>
                      </a:r>
                    </a:p>
                    <a:p>
                      <a:endParaRPr lang="en-IN" sz="1400" dirty="0"/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2489154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r>
                        <a:rPr lang="en-IN" sz="1400" dirty="0"/>
                        <a:t>Role change within organization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Permissions dynamically updated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Membership-role controlled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852421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r>
                        <a:rPr lang="en-IN" sz="1400" dirty="0"/>
                        <a:t>Multiple HR Admins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Allowed under same organization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Shared operational access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46203"/>
                  </a:ext>
                </a:extLst>
              </a:tr>
              <a:tr h="295158">
                <a:tc>
                  <a:txBody>
                    <a:bodyPr/>
                    <a:lstStyle/>
                    <a:p>
                      <a:r>
                        <a:rPr lang="en-IN" sz="1400" dirty="0"/>
                        <a:t>Multiple Recruiters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Allowed under same organization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Controlled by role permissions</a:t>
                      </a:r>
                    </a:p>
                  </a:txBody>
                  <a:tcPr marL="27430" marR="27430" marT="13715" marB="137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986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F88530-79A2-475A-9969-860CD0D2EDDB}"/>
              </a:ext>
            </a:extLst>
          </p:cNvPr>
          <p:cNvSpPr txBox="1"/>
          <p:nvPr/>
        </p:nvSpPr>
        <p:spPr>
          <a:xfrm>
            <a:off x="317821" y="284422"/>
            <a:ext cx="78392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5.3 Multi-User Recruiter System Edge Cases</a:t>
            </a:r>
          </a:p>
          <a:p>
            <a:r>
              <a:rPr lang="en-US" sz="2800" b="1" dirty="0">
                <a:solidFill>
                  <a:srgbClr val="14285A"/>
                </a:solidFill>
              </a:rPr>
              <a:t>&amp; Data Ownership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588EBE-98A7-4B81-8684-D70A4F6BE1C9}"/>
              </a:ext>
            </a:extLst>
          </p:cNvPr>
          <p:cNvSpPr/>
          <p:nvPr/>
        </p:nvSpPr>
        <p:spPr>
          <a:xfrm>
            <a:off x="317821" y="1281787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41873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126E39-77EC-41B7-A4EF-08495DA984D9}"/>
              </a:ext>
            </a:extLst>
          </p:cNvPr>
          <p:cNvSpPr txBox="1"/>
          <p:nvPr/>
        </p:nvSpPr>
        <p:spPr>
          <a:xfrm>
            <a:off x="548640" y="365760"/>
            <a:ext cx="75597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6. Job </a:t>
            </a:r>
            <a:r>
              <a:rPr sz="2800" b="1" dirty="0">
                <a:solidFill>
                  <a:srgbClr val="14285A"/>
                </a:solidFill>
              </a:rPr>
              <a:t>Responses &amp; Recommend</a:t>
            </a:r>
            <a:r>
              <a:rPr lang="en-US" sz="2800" b="1" dirty="0">
                <a:solidFill>
                  <a:srgbClr val="14285A"/>
                </a:solidFill>
              </a:rPr>
              <a:t>ed Profile</a:t>
            </a:r>
            <a:r>
              <a:rPr sz="2800" b="1" dirty="0">
                <a:solidFill>
                  <a:srgbClr val="14285A"/>
                </a:solidFill>
              </a:rPr>
              <a:t>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D1F7D-7FD0-47A0-8003-F69B0ED6C805}"/>
              </a:ext>
            </a:extLst>
          </p:cNvPr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8245F-E84C-4E29-A147-A108845C0084}"/>
              </a:ext>
            </a:extLst>
          </p:cNvPr>
          <p:cNvSpPr txBox="1"/>
          <p:nvPr/>
        </p:nvSpPr>
        <p:spPr>
          <a:xfrm>
            <a:off x="296070" y="1374263"/>
            <a:ext cx="855185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Dynamic-</a:t>
            </a:r>
            <a:r>
              <a:rPr dirty="0"/>
              <a:t>assisted recruiter candidate discovery experience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Integrated responses + recommendation workflow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Dynamic relevancy-based candidate ranking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Smart recruiter engagement psychology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System should feel like active hiring intelligence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Recruiters should feel platform is continuously working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IN" dirty="0"/>
              <a:t>Recommendations should evolve dynamically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IN" dirty="0"/>
              <a:t>Increases recruiter trust &amp; dependency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Hot profiles with high hiring intent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IN" dirty="0"/>
              <a:t>Nearby &amp; active candidates</a:t>
            </a:r>
          </a:p>
          <a:p>
            <a:endParaRPr lang="en-IN" sz="2400" b="1" dirty="0">
              <a:solidFill>
                <a:srgbClr val="14285A"/>
              </a:solidFill>
            </a:endParaRPr>
          </a:p>
          <a:p>
            <a:r>
              <a:rPr lang="en-IN" sz="2400" b="1" dirty="0">
                <a:solidFill>
                  <a:srgbClr val="14285A"/>
                </a:solidFill>
              </a:rPr>
              <a:t>Candidate Sources</a:t>
            </a:r>
          </a:p>
          <a:p>
            <a:pPr>
              <a:defRPr sz="2200">
                <a:solidFill>
                  <a:srgbClr val="464646"/>
                </a:solidFill>
              </a:defRPr>
            </a:pPr>
            <a:r>
              <a:rPr lang="en-IN" dirty="0"/>
              <a:t>Applied Candidates</a:t>
            </a:r>
          </a:p>
          <a:p>
            <a:pPr>
              <a:defRPr sz="2200">
                <a:solidFill>
                  <a:srgbClr val="464646"/>
                </a:solidFill>
              </a:defRPr>
            </a:pPr>
            <a:r>
              <a:rPr lang="en-IN" dirty="0"/>
              <a:t>AI Recommended Profiles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2677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25AB3-125F-4117-AC71-FB969BD3342D}"/>
              </a:ext>
            </a:extLst>
          </p:cNvPr>
          <p:cNvSpPr txBox="1"/>
          <p:nvPr/>
        </p:nvSpPr>
        <p:spPr>
          <a:xfrm>
            <a:off x="548640" y="365760"/>
            <a:ext cx="51357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4285A"/>
                </a:solidFill>
              </a:rPr>
              <a:t>6.1 Recruiter Psychology Strategy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84B179-E078-4C26-808A-0F48562EF162}"/>
              </a:ext>
            </a:extLst>
          </p:cNvPr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E129E2-CB56-4A91-95AB-998721C6EADA}"/>
              </a:ext>
            </a:extLst>
          </p:cNvPr>
          <p:cNvSpPr/>
          <p:nvPr/>
        </p:nvSpPr>
        <p:spPr>
          <a:xfrm>
            <a:off x="548640" y="1579465"/>
            <a:ext cx="799167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IN" dirty="0"/>
              <a:t>Recommendations should refresh continuously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New profiles dynamically added to matching engine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System should feel active &amp; evolving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Make recruiters feel AI is processing in background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Create curiosity using changing recommendations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IN" dirty="0"/>
              <a:t>Increase repeat recruiter engagement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IN" dirty="0"/>
              <a:t>Encourage unlock usage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lang="en-US" dirty="0"/>
          </a:p>
          <a:p>
            <a:pPr>
              <a:defRPr sz="2200">
                <a:solidFill>
                  <a:srgbClr val="464646"/>
                </a:solidFill>
              </a:defRPr>
            </a:pPr>
            <a:r>
              <a:rPr lang="en-IN" sz="2400" b="1" dirty="0">
                <a:solidFill>
                  <a:srgbClr val="14285A"/>
                </a:solidFill>
              </a:rPr>
              <a:t>Smart Recommendation Messaging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IN" dirty="0"/>
              <a:t>New relevant candidates found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AI discovered better matching profiles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lang="en-US" dirty="0"/>
              <a:t>5 active candidates recently matched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457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5015BD-0DA9-46FC-99C4-295B4162364F}"/>
              </a:ext>
            </a:extLst>
          </p:cNvPr>
          <p:cNvSpPr txBox="1"/>
          <p:nvPr/>
        </p:nvSpPr>
        <p:spPr>
          <a:xfrm>
            <a:off x="548640" y="365760"/>
            <a:ext cx="52852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6.2 </a:t>
            </a:r>
            <a:r>
              <a:rPr sz="2800" b="1" dirty="0">
                <a:solidFill>
                  <a:srgbClr val="14285A"/>
                </a:solidFill>
              </a:rPr>
              <a:t>Recommended Candidate Tags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85927F-BF77-4177-B9D2-CBE9151E6C39}"/>
              </a:ext>
            </a:extLst>
          </p:cNvPr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0849F-3600-46B9-A123-673873B162A9}"/>
              </a:ext>
            </a:extLst>
          </p:cNvPr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64646"/>
                </a:solidFill>
              </a:defRPr>
            </a:pPr>
            <a:r>
              <a:rPr dirty="0"/>
              <a:t>Recommended</a:t>
            </a:r>
          </a:p>
          <a:p>
            <a:pPr>
              <a:defRPr sz="2200">
                <a:solidFill>
                  <a:srgbClr val="464646"/>
                </a:solidFill>
              </a:defRPr>
            </a:pPr>
            <a:r>
              <a:rPr dirty="0"/>
              <a:t>Hot Profile</a:t>
            </a:r>
          </a:p>
          <a:p>
            <a:pPr>
              <a:defRPr sz="2200">
                <a:solidFill>
                  <a:srgbClr val="464646"/>
                </a:solidFill>
              </a:defRPr>
            </a:pPr>
            <a:r>
              <a:rPr dirty="0"/>
              <a:t>Recently Active</a:t>
            </a:r>
          </a:p>
          <a:p>
            <a:pPr>
              <a:defRPr sz="2200">
                <a:solidFill>
                  <a:srgbClr val="464646"/>
                </a:solidFill>
              </a:defRPr>
            </a:pPr>
            <a:r>
              <a:rPr dirty="0"/>
              <a:t>Fast Responder</a:t>
            </a:r>
          </a:p>
          <a:p>
            <a:pPr>
              <a:defRPr sz="2200">
                <a:solidFill>
                  <a:srgbClr val="464646"/>
                </a:solidFill>
              </a:defRPr>
            </a:pPr>
            <a:r>
              <a:rPr dirty="0"/>
              <a:t>Nearby Candidate</a:t>
            </a:r>
          </a:p>
        </p:txBody>
      </p:sp>
    </p:spTree>
    <p:extLst>
      <p:ext uri="{BB962C8B-B14F-4D97-AF65-F5344CB8AC3E}">
        <p14:creationId xmlns:p14="http://schemas.microsoft.com/office/powerpoint/2010/main" val="2305372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164A12-D1E8-4BBB-A51A-B807E3B52AD5}"/>
              </a:ext>
            </a:extLst>
          </p:cNvPr>
          <p:cNvSpPr txBox="1"/>
          <p:nvPr/>
        </p:nvSpPr>
        <p:spPr>
          <a:xfrm>
            <a:off x="548640" y="365760"/>
            <a:ext cx="52185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14285A"/>
                </a:solidFill>
              </a:rPr>
              <a:t>6.3 </a:t>
            </a:r>
            <a:r>
              <a:rPr sz="2800" b="1" dirty="0">
                <a:solidFill>
                  <a:srgbClr val="14285A"/>
                </a:solidFill>
              </a:rPr>
              <a:t>Important Recommendation</a:t>
            </a:r>
            <a:r>
              <a:rPr lang="en-US" sz="2800" b="1" dirty="0">
                <a:solidFill>
                  <a:srgbClr val="14285A"/>
                </a:solidFill>
              </a:rPr>
              <a:t>s-</a:t>
            </a:r>
            <a:endParaRPr sz="2800" b="1" dirty="0">
              <a:solidFill>
                <a:srgbClr val="14285A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43BA38-6DB6-41CE-9F30-F3CAE5247315}"/>
              </a:ext>
            </a:extLst>
          </p:cNvPr>
          <p:cNvSpPr/>
          <p:nvPr/>
        </p:nvSpPr>
        <p:spPr>
          <a:xfrm>
            <a:off x="548640" y="1005840"/>
            <a:ext cx="3200400" cy="45720"/>
          </a:xfrm>
          <a:prstGeom prst="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073D86-F284-4BC4-8211-19608BA4E0CA}"/>
              </a:ext>
            </a:extLst>
          </p:cNvPr>
          <p:cNvSpPr txBox="1"/>
          <p:nvPr/>
        </p:nvSpPr>
        <p:spPr>
          <a:xfrm>
            <a:off x="822960" y="1463040"/>
            <a:ext cx="802807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Never show 'No Candidates Found'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Broaden matching intelligently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Suggest related profiles dynamically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Always keep hiring flow active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464646"/>
                </a:solidFill>
              </a:defRPr>
            </a:pPr>
            <a:r>
              <a:rPr dirty="0"/>
              <a:t>System should feel resourceful</a:t>
            </a:r>
          </a:p>
        </p:txBody>
      </p:sp>
    </p:spTree>
    <p:extLst>
      <p:ext uri="{BB962C8B-B14F-4D97-AF65-F5344CB8AC3E}">
        <p14:creationId xmlns:p14="http://schemas.microsoft.com/office/powerpoint/2010/main" val="4193102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5939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1159</Words>
  <Application>Microsoft Office PowerPoint</Application>
  <PresentationFormat>On-screen Show (4:3)</PresentationFormat>
  <Paragraphs>268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Vishal OnH</cp:lastModifiedBy>
  <cp:revision>47</cp:revision>
  <dcterms:created xsi:type="dcterms:W3CDTF">2013-01-27T09:14:16Z</dcterms:created>
  <dcterms:modified xsi:type="dcterms:W3CDTF">2026-08-05T09:31:25Z</dcterms:modified>
  <cp:category/>
</cp:coreProperties>
</file>